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3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345A-3D1A-2826-E91D-2F1570EDE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4F6A3-9832-B805-E1D0-69D73EFDB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A25EC-3DA2-EEBF-ED2C-D8E940A0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9C06A-3124-A06F-CE63-DE405EBE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A8586-C55C-D4F2-EC70-5AA404E9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4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64A2-6584-B3D4-0EF3-51EB3BF7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8795E-DE76-EF11-68D8-79D1E90E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B31C-2B7C-5224-5D4E-A6E97844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CA093-30DE-3F75-D79F-BD08106BE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50504-6B61-0CD5-CB80-9222CF26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2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D61B-6769-243F-DB86-3FEFB6AB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2B04B-5E1F-A804-AA2A-98A656C09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971E6-F851-BB07-2D9E-861B5AFA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F7585-12C5-74EF-8A3F-C0B61506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7C87C-2A81-BD9C-52E9-702C8804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0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0FC44-6435-6D10-D3C5-3125CA79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60C76-CE3D-29C5-D439-D3838E34B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7F311-3B3F-4A0F-A869-FB956AC35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8CEBC-EA81-261C-288C-D5B1387E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E45F7-4BB0-47F4-F780-356EEB29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96AD8-8234-847B-33FD-CD228A5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8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630BE-EA5C-D10C-210A-D8E08846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7A0CE-A434-F87C-F442-A6D565A1E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252D4-F39E-C8FE-72E6-D896DB60A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46047-3D6E-D421-C99F-5CAC1A627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B6F37-C590-938A-BFB3-71935A105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FEF33-A348-29DC-5518-561796BE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586B0-F5DA-B29C-4D89-61318555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9AFB28-1E06-D1A4-3524-7D7713D2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0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14CE-65A3-5154-545A-C7E62DA5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559DC-6B66-E743-55D4-E0AC191C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C32AA-530A-61EC-ECDF-83FEF916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9DADB-9F9D-32E7-AE2F-427F3146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9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DD430-7AC8-900B-A5A0-26722343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F1F06-5A40-2FF6-57AE-49D573B9A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80AE8-B263-03CE-9F7A-FF01453B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8CAB-05E4-9C37-1CA9-97962A2B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642F6-F1FE-C1CA-BEC3-7ECFF39F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FFB70-04A0-2D8E-08C3-8C64D81A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C0D2C-D80E-A217-7171-1C8647F3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B886A-E219-4FD8-C1F0-BA2B75A0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C6EDF-E185-8E37-78EF-BB22B123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8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A6F0-B835-7EA8-FDCC-2C84CCD8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1D7D2-9073-5F12-BFFF-CC39E439C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A5527-50A7-1FAB-2628-0BB52900A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D47A1-7B13-6EEB-6A79-33A07DCF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8998F-B66F-7384-FD0F-F6704341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B4BD0-7A2B-F16D-3B79-302AD83C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2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DB26-777C-9041-95F2-766F3E5F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091A2-DF4C-1E4D-0E3B-DBFEB7D5E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E0874-781E-749E-B663-2CD0E8A3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1856A-F37C-BD5D-F9D8-7BDB36AE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ECEF3-1FA7-B27B-2478-D963555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4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DAC6F-2B3C-4CC2-7DF5-0BAE6DC8D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EC8D2-7A81-2D20-1FB5-5E6770BB7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827C8-C61F-67C7-6265-21715362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32BB6-472D-AEED-21DC-59BFC8FF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0DB44-30C2-7E15-96C9-F6C3C338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2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E8B36-BCDB-8D68-CA7A-F619865B6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1F67E-C177-EC86-07F2-8ADAF37BC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F8841-9676-A338-2F69-BE582D0CF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76FE9-A877-4D54-87C8-4BBE3357A2F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A2B61-A247-6DFF-DEC4-1B531F743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06B5-D911-9515-6D23-DAA4909D3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E7379-DC1A-4D45-8174-A1D86D97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1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B270A-BDE0-FD09-2580-0BEE29CB8B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Conceptual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2DAC0-E10D-BE05-4A78-9EE802E55C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Logical and Physical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278994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4432D64-2BD8-A025-F313-EB3D611C1FE3}"/>
              </a:ext>
            </a:extLst>
          </p:cNvPr>
          <p:cNvGrpSpPr/>
          <p:nvPr/>
        </p:nvGrpSpPr>
        <p:grpSpPr>
          <a:xfrm>
            <a:off x="9153525" y="2408204"/>
            <a:ext cx="1092745" cy="1358901"/>
            <a:chOff x="9504363" y="2136774"/>
            <a:chExt cx="508545" cy="116598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E43028-7843-F091-17EA-06B4B8742156}"/>
                </a:ext>
              </a:extLst>
            </p:cNvPr>
            <p:cNvSpPr/>
            <p:nvPr/>
          </p:nvSpPr>
          <p:spPr>
            <a:xfrm>
              <a:off x="9504363" y="2136774"/>
              <a:ext cx="508545" cy="2515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Miner-0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5FFA39C-5DD4-F58C-9217-905A20BA657E}"/>
                </a:ext>
              </a:extLst>
            </p:cNvPr>
            <p:cNvSpPr/>
            <p:nvPr/>
          </p:nvSpPr>
          <p:spPr>
            <a:xfrm>
              <a:off x="9730095" y="2547534"/>
              <a:ext cx="63689" cy="7278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545902-53D4-4269-6541-546520C106E0}"/>
                </a:ext>
              </a:extLst>
            </p:cNvPr>
            <p:cNvSpPr/>
            <p:nvPr/>
          </p:nvSpPr>
          <p:spPr>
            <a:xfrm>
              <a:off x="9730096" y="2703109"/>
              <a:ext cx="63689" cy="7278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BC542D-6AF1-9077-6970-0BDEB6B6C1C0}"/>
                </a:ext>
              </a:extLst>
            </p:cNvPr>
            <p:cNvSpPr/>
            <p:nvPr/>
          </p:nvSpPr>
          <p:spPr>
            <a:xfrm>
              <a:off x="9730095" y="2858684"/>
              <a:ext cx="63689" cy="7278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510031-D0A8-4472-C35B-F2F06CCF68D0}"/>
                </a:ext>
              </a:extLst>
            </p:cNvPr>
            <p:cNvSpPr/>
            <p:nvPr/>
          </p:nvSpPr>
          <p:spPr>
            <a:xfrm>
              <a:off x="9504363" y="3051174"/>
              <a:ext cx="508545" cy="2515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Miner-9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F43C153-6F9D-B000-CDB0-707BF08DB509}"/>
              </a:ext>
            </a:extLst>
          </p:cNvPr>
          <p:cNvSpPr/>
          <p:nvPr/>
        </p:nvSpPr>
        <p:spPr>
          <a:xfrm>
            <a:off x="7415213" y="2711385"/>
            <a:ext cx="1147763" cy="623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D52FC1-DB9C-75A0-E94C-62787128B69E}"/>
              </a:ext>
            </a:extLst>
          </p:cNvPr>
          <p:cNvSpPr/>
          <p:nvPr/>
        </p:nvSpPr>
        <p:spPr>
          <a:xfrm>
            <a:off x="7415212" y="1053395"/>
            <a:ext cx="1147763" cy="623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D0A85D-FEAB-AAB9-E4D5-F5210E3B4407}"/>
              </a:ext>
            </a:extLst>
          </p:cNvPr>
          <p:cNvSpPr/>
          <p:nvPr/>
        </p:nvSpPr>
        <p:spPr>
          <a:xfrm>
            <a:off x="9114599" y="1053395"/>
            <a:ext cx="1147763" cy="623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75EFAF-F8D3-7A26-6616-1B63E059C2C4}"/>
              </a:ext>
            </a:extLst>
          </p:cNvPr>
          <p:cNvSpPr/>
          <p:nvPr/>
        </p:nvSpPr>
        <p:spPr>
          <a:xfrm>
            <a:off x="7181850" y="538163"/>
            <a:ext cx="3333750" cy="338137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D96AAC-73B2-A407-0D7E-32D686C5D5A9}"/>
              </a:ext>
            </a:extLst>
          </p:cNvPr>
          <p:cNvSpPr txBox="1"/>
          <p:nvPr/>
        </p:nvSpPr>
        <p:spPr>
          <a:xfrm>
            <a:off x="7698580" y="594444"/>
            <a:ext cx="22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Docker Containers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1E3696-8040-72A8-27CD-26D9EF2F6215}"/>
              </a:ext>
            </a:extLst>
          </p:cNvPr>
          <p:cNvCxnSpPr>
            <a:stCxn id="15" idx="0"/>
            <a:endCxn id="16" idx="2"/>
          </p:cNvCxnSpPr>
          <p:nvPr/>
        </p:nvCxnSpPr>
        <p:spPr>
          <a:xfrm flipH="1" flipV="1">
            <a:off x="7989094" y="1676399"/>
            <a:ext cx="1" cy="1034986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1F20F8-0EF7-BD34-FE2B-10497B8E9773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8562975" y="1364897"/>
            <a:ext cx="551624" cy="0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3D007C-0D2B-87BD-F9D1-B50A06A1F611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9688481" y="1676399"/>
            <a:ext cx="5707" cy="575077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2993E29-3DF0-2919-1611-9D76DD7046BC}"/>
              </a:ext>
            </a:extLst>
          </p:cNvPr>
          <p:cNvSpPr/>
          <p:nvPr/>
        </p:nvSpPr>
        <p:spPr>
          <a:xfrm>
            <a:off x="9011732" y="2251476"/>
            <a:ext cx="1353497" cy="163353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C49853-F994-E9D2-F1B2-B5200A6DB975}"/>
              </a:ext>
            </a:extLst>
          </p:cNvPr>
          <p:cNvSpPr/>
          <p:nvPr/>
        </p:nvSpPr>
        <p:spPr>
          <a:xfrm>
            <a:off x="4974551" y="404813"/>
            <a:ext cx="1385887" cy="8001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</a:t>
            </a:r>
          </a:p>
          <a:p>
            <a:pPr algn="ctr"/>
            <a:r>
              <a:rPr lang="en-US" dirty="0"/>
              <a:t>(React)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39720-DAB9-048A-1A8E-6437F64049C8}"/>
              </a:ext>
            </a:extLst>
          </p:cNvPr>
          <p:cNvSpPr/>
          <p:nvPr/>
        </p:nvSpPr>
        <p:spPr>
          <a:xfrm>
            <a:off x="4974550" y="1552575"/>
            <a:ext cx="1385887" cy="8001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</a:t>
            </a:r>
          </a:p>
          <a:p>
            <a:pPr algn="ctr"/>
            <a:r>
              <a:rPr lang="en-US" dirty="0"/>
              <a:t>(React)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BB7B1B6-C0B8-16D5-23E9-B86D619E20A9}"/>
              </a:ext>
            </a:extLst>
          </p:cNvPr>
          <p:cNvSpPr/>
          <p:nvPr/>
        </p:nvSpPr>
        <p:spPr>
          <a:xfrm>
            <a:off x="5572245" y="2800350"/>
            <a:ext cx="95250" cy="865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4E121F9-FE81-F4EB-CF68-49886E865810}"/>
              </a:ext>
            </a:extLst>
          </p:cNvPr>
          <p:cNvSpPr/>
          <p:nvPr/>
        </p:nvSpPr>
        <p:spPr>
          <a:xfrm>
            <a:off x="5572245" y="3067369"/>
            <a:ext cx="95250" cy="865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8CF399-F686-832B-3E50-36D561289EF2}"/>
              </a:ext>
            </a:extLst>
          </p:cNvPr>
          <p:cNvSpPr/>
          <p:nvPr/>
        </p:nvSpPr>
        <p:spPr>
          <a:xfrm>
            <a:off x="5572245" y="3342424"/>
            <a:ext cx="95250" cy="865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95D6B4-72A2-343A-6C64-60527CB2343A}"/>
              </a:ext>
            </a:extLst>
          </p:cNvPr>
          <p:cNvSpPr/>
          <p:nvPr/>
        </p:nvSpPr>
        <p:spPr>
          <a:xfrm>
            <a:off x="4974550" y="3767105"/>
            <a:ext cx="1385887" cy="8001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</a:t>
            </a:r>
          </a:p>
          <a:p>
            <a:pPr algn="ctr"/>
            <a:r>
              <a:rPr lang="en-US" dirty="0"/>
              <a:t>(React)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0E61715-C6BD-78B3-0F6A-406BF1983E47}"/>
              </a:ext>
            </a:extLst>
          </p:cNvPr>
          <p:cNvCxnSpPr>
            <a:cxnSpLocks/>
            <a:stCxn id="15" idx="3"/>
            <a:endCxn id="4" idx="1"/>
          </p:cNvCxnSpPr>
          <p:nvPr/>
        </p:nvCxnSpPr>
        <p:spPr>
          <a:xfrm flipV="1">
            <a:off x="8562976" y="2554809"/>
            <a:ext cx="590549" cy="468078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9BB3E6-06EA-2B3F-DA63-DBB13CD96F5E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8562976" y="3022887"/>
            <a:ext cx="590549" cy="597614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7C8689E-7B8F-69C7-1B93-91C64EA07523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 flipV="1">
            <a:off x="6360438" y="804863"/>
            <a:ext cx="1054775" cy="2218024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0F7351-B0A1-8347-E51D-2564C2A4EE65}"/>
              </a:ext>
            </a:extLst>
          </p:cNvPr>
          <p:cNvCxnSpPr>
            <a:cxnSpLocks/>
            <a:stCxn id="15" idx="1"/>
            <a:endCxn id="36" idx="3"/>
          </p:cNvCxnSpPr>
          <p:nvPr/>
        </p:nvCxnSpPr>
        <p:spPr>
          <a:xfrm flipH="1" flipV="1">
            <a:off x="6360437" y="1952625"/>
            <a:ext cx="1054776" cy="1070262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A7326D-00FF-6A5E-2117-24E95652101A}"/>
              </a:ext>
            </a:extLst>
          </p:cNvPr>
          <p:cNvCxnSpPr>
            <a:cxnSpLocks/>
            <a:stCxn id="15" idx="1"/>
            <a:endCxn id="40" idx="3"/>
          </p:cNvCxnSpPr>
          <p:nvPr/>
        </p:nvCxnSpPr>
        <p:spPr>
          <a:xfrm flipH="1">
            <a:off x="6360437" y="3022887"/>
            <a:ext cx="1054776" cy="1144268"/>
          </a:xfrm>
          <a:prstGeom prst="line">
            <a:avLst/>
          </a:pr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850FB54-7DE8-2E74-822F-E6BFC0667562}"/>
              </a:ext>
            </a:extLst>
          </p:cNvPr>
          <p:cNvSpPr txBox="1"/>
          <p:nvPr/>
        </p:nvSpPr>
        <p:spPr>
          <a:xfrm>
            <a:off x="165273" y="327809"/>
            <a:ext cx="45334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Each blue box represents a Docker container.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E80685-A3E5-4CEB-ED4D-2AD0A9CE5E46}"/>
              </a:ext>
            </a:extLst>
          </p:cNvPr>
          <p:cNvSpPr txBox="1"/>
          <p:nvPr/>
        </p:nvSpPr>
        <p:spPr>
          <a:xfrm>
            <a:off x="134119" y="1579815"/>
            <a:ext cx="46897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communication between components is done in WebSocket for push.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2F08F5-784C-ABBF-5FE5-3CF1DE4BACAE}"/>
              </a:ext>
            </a:extLst>
          </p:cNvPr>
          <p:cNvSpPr txBox="1"/>
          <p:nvPr/>
        </p:nvSpPr>
        <p:spPr>
          <a:xfrm>
            <a:off x="52388" y="3552975"/>
            <a:ext cx="47714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non-real-time processing, REST may be used.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671933-489A-D47D-BF8F-928F80ED37C7}"/>
              </a:ext>
            </a:extLst>
          </p:cNvPr>
          <p:cNvSpPr txBox="1"/>
          <p:nvPr/>
        </p:nvSpPr>
        <p:spPr>
          <a:xfrm>
            <a:off x="2585868" y="5450662"/>
            <a:ext cx="928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Container and Browser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1997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AC7-F103-8329-4BFF-57EFEECD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712"/>
            <a:ext cx="10515600" cy="701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Conceptual Application Architecture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A9ACA8-63A3-CBCD-427F-2612F223F17F}"/>
              </a:ext>
            </a:extLst>
          </p:cNvPr>
          <p:cNvGrpSpPr/>
          <p:nvPr/>
        </p:nvGrpSpPr>
        <p:grpSpPr>
          <a:xfrm>
            <a:off x="289319" y="2744979"/>
            <a:ext cx="4186237" cy="3457575"/>
            <a:chOff x="1052512" y="1638300"/>
            <a:chExt cx="4186237" cy="34575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E6013A-3EDE-1E84-75E8-547E862CD4F4}"/>
                </a:ext>
              </a:extLst>
            </p:cNvPr>
            <p:cNvSpPr/>
            <p:nvPr/>
          </p:nvSpPr>
          <p:spPr>
            <a:xfrm>
              <a:off x="1052512" y="1638300"/>
              <a:ext cx="4186237" cy="3457575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38EA46-066A-09D8-6BB1-690E57CF85A0}"/>
                </a:ext>
              </a:extLst>
            </p:cNvPr>
            <p:cNvSpPr txBox="1"/>
            <p:nvPr/>
          </p:nvSpPr>
          <p:spPr>
            <a:xfrm>
              <a:off x="1319213" y="1762125"/>
              <a:ext cx="270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</a:rPr>
                <a:t>BTC/USD Exchange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A328DA9-5303-3F61-DEFB-74FB95F2A69B}"/>
                </a:ext>
              </a:extLst>
            </p:cNvPr>
            <p:cNvSpPr/>
            <p:nvPr/>
          </p:nvSpPr>
          <p:spPr>
            <a:xfrm>
              <a:off x="1352551" y="2290763"/>
              <a:ext cx="1476374" cy="24357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30 Clients with $30,000 USD in their exchange account</a:t>
              </a:r>
            </a:p>
            <a:p>
              <a:pPr algn="ctr"/>
              <a:r>
                <a:rPr lang="en-US" dirty="0"/>
                <a:t>No BTC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E00292-F2C6-5A60-C82C-3B9F2FF71288}"/>
                </a:ext>
              </a:extLst>
            </p:cNvPr>
            <p:cNvSpPr/>
            <p:nvPr/>
          </p:nvSpPr>
          <p:spPr>
            <a:xfrm>
              <a:off x="3581401" y="2290763"/>
              <a:ext cx="1476374" cy="24357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 Clients with only BTC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7F1AB29-1CD7-7A2B-0BF7-9EC15A90B2FA}"/>
              </a:ext>
            </a:extLst>
          </p:cNvPr>
          <p:cNvGrpSpPr/>
          <p:nvPr/>
        </p:nvGrpSpPr>
        <p:grpSpPr>
          <a:xfrm>
            <a:off x="8506650" y="3004297"/>
            <a:ext cx="2847150" cy="3424437"/>
            <a:chOff x="8415337" y="1586870"/>
            <a:chExt cx="2847150" cy="342443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CEE97CC-986A-61E5-BB98-32B3570E9B60}"/>
                </a:ext>
              </a:extLst>
            </p:cNvPr>
            <p:cNvGrpSpPr/>
            <p:nvPr/>
          </p:nvGrpSpPr>
          <p:grpSpPr>
            <a:xfrm>
              <a:off x="9109766" y="3238464"/>
              <a:ext cx="1692479" cy="1772843"/>
              <a:chOff x="9246984" y="3684979"/>
              <a:chExt cx="1692479" cy="177284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E0CDEB5-D21D-CDAC-68D8-27326151E0C0}"/>
                  </a:ext>
                </a:extLst>
              </p:cNvPr>
              <p:cNvGrpSpPr/>
              <p:nvPr/>
            </p:nvGrpSpPr>
            <p:grpSpPr>
              <a:xfrm>
                <a:off x="9563100" y="3912229"/>
                <a:ext cx="1092745" cy="1358901"/>
                <a:chOff x="9504363" y="2136774"/>
                <a:chExt cx="508545" cy="1165983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47EABC1-F0B4-F36B-1BE7-77203C852A1B}"/>
                    </a:ext>
                  </a:extLst>
                </p:cNvPr>
                <p:cNvSpPr/>
                <p:nvPr/>
              </p:nvSpPr>
              <p:spPr>
                <a:xfrm>
                  <a:off x="9504363" y="2136774"/>
                  <a:ext cx="508545" cy="25158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Miner-0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7C38709-9AD7-7D70-CD21-8BE5E529DBE1}"/>
                    </a:ext>
                  </a:extLst>
                </p:cNvPr>
                <p:cNvSpPr/>
                <p:nvPr/>
              </p:nvSpPr>
              <p:spPr>
                <a:xfrm>
                  <a:off x="9730095" y="2547534"/>
                  <a:ext cx="63689" cy="7278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F0FBA12-A102-415D-6401-990DE9270B8A}"/>
                    </a:ext>
                  </a:extLst>
                </p:cNvPr>
                <p:cNvSpPr/>
                <p:nvPr/>
              </p:nvSpPr>
              <p:spPr>
                <a:xfrm>
                  <a:off x="9730096" y="2703109"/>
                  <a:ext cx="63689" cy="7278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C77FB50-B6FD-6578-4DA7-3527C0F9D27D}"/>
                    </a:ext>
                  </a:extLst>
                </p:cNvPr>
                <p:cNvSpPr/>
                <p:nvPr/>
              </p:nvSpPr>
              <p:spPr>
                <a:xfrm>
                  <a:off x="9730095" y="2858684"/>
                  <a:ext cx="63689" cy="7278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6B979E7-95A0-50CB-8BC1-CFBA9A7AE545}"/>
                    </a:ext>
                  </a:extLst>
                </p:cNvPr>
                <p:cNvSpPr/>
                <p:nvPr/>
              </p:nvSpPr>
              <p:spPr>
                <a:xfrm>
                  <a:off x="9504363" y="3051174"/>
                  <a:ext cx="508545" cy="25158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Miner-9</a:t>
                  </a:r>
                </a:p>
              </p:txBody>
            </p:sp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EA0070E-C62A-17D1-3BB6-E25572BB7356}"/>
                  </a:ext>
                </a:extLst>
              </p:cNvPr>
              <p:cNvSpPr/>
              <p:nvPr/>
            </p:nvSpPr>
            <p:spPr>
              <a:xfrm>
                <a:off x="9246984" y="3684979"/>
                <a:ext cx="1692479" cy="1772843"/>
              </a:xfrm>
              <a:prstGeom prst="rect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0D4C2E-67C6-880D-0431-BA2B6D240256}"/>
                </a:ext>
              </a:extLst>
            </p:cNvPr>
            <p:cNvSpPr/>
            <p:nvPr/>
          </p:nvSpPr>
          <p:spPr>
            <a:xfrm>
              <a:off x="8415337" y="1586870"/>
              <a:ext cx="1147763" cy="6230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167325-9311-A994-EC4D-D943E3B5833E}"/>
                </a:ext>
              </a:extLst>
            </p:cNvPr>
            <p:cNvSpPr/>
            <p:nvPr/>
          </p:nvSpPr>
          <p:spPr>
            <a:xfrm>
              <a:off x="10114724" y="1586870"/>
              <a:ext cx="1147763" cy="6230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Node2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549F3B6-8A11-DB7B-3E8B-1C1016254F38}"/>
                </a:ext>
              </a:extLst>
            </p:cNvPr>
            <p:cNvCxnSpPr>
              <a:cxnSpLocks/>
              <a:stCxn id="17" idx="1"/>
              <a:endCxn id="16" idx="3"/>
            </p:cNvCxnSpPr>
            <p:nvPr/>
          </p:nvCxnSpPr>
          <p:spPr>
            <a:xfrm flipH="1">
              <a:off x="9563100" y="1898372"/>
              <a:ext cx="551624" cy="0"/>
            </a:xfrm>
            <a:prstGeom prst="line">
              <a:avLst/>
            </a:prstGeom>
            <a:ln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A58204E-B055-2181-D3E0-19031ACA065A}"/>
                </a:ext>
              </a:extLst>
            </p:cNvPr>
            <p:cNvCxnSpPr>
              <a:cxnSpLocks/>
              <a:stCxn id="16" idx="2"/>
              <a:endCxn id="15" idx="0"/>
            </p:cNvCxnSpPr>
            <p:nvPr/>
          </p:nvCxnSpPr>
          <p:spPr>
            <a:xfrm>
              <a:off x="8989219" y="2209874"/>
              <a:ext cx="966787" cy="1028590"/>
            </a:xfrm>
            <a:prstGeom prst="line">
              <a:avLst/>
            </a:prstGeom>
            <a:ln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A2F18D6-2268-68C6-71AE-A27D40593022}"/>
              </a:ext>
            </a:extLst>
          </p:cNvPr>
          <p:cNvSpPr/>
          <p:nvPr/>
        </p:nvSpPr>
        <p:spPr>
          <a:xfrm>
            <a:off x="95250" y="1033463"/>
            <a:ext cx="7429500" cy="566737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283AE-53CC-CD93-4381-D3688170BE53}"/>
              </a:ext>
            </a:extLst>
          </p:cNvPr>
          <p:cNvSpPr txBox="1"/>
          <p:nvPr/>
        </p:nvSpPr>
        <p:spPr>
          <a:xfrm>
            <a:off x="572640" y="1238250"/>
            <a:ext cx="6218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After BTC creation and maturation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16FD80-1A63-046C-D0B2-45A7B52C0F16}"/>
              </a:ext>
            </a:extLst>
          </p:cNvPr>
          <p:cNvGrpSpPr/>
          <p:nvPr/>
        </p:nvGrpSpPr>
        <p:grpSpPr>
          <a:xfrm>
            <a:off x="4866678" y="2709260"/>
            <a:ext cx="2266950" cy="3529012"/>
            <a:chOff x="4899786" y="2019301"/>
            <a:chExt cx="2266950" cy="352901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8D4D29C-7186-3302-2C5E-EFBF0868CE46}"/>
                </a:ext>
              </a:extLst>
            </p:cNvPr>
            <p:cNvSpPr/>
            <p:nvPr/>
          </p:nvSpPr>
          <p:spPr>
            <a:xfrm>
              <a:off x="5237922" y="2568455"/>
              <a:ext cx="1371601" cy="465372"/>
            </a:xfrm>
            <a:prstGeom prst="rect">
              <a:avLst/>
            </a:prstGeom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Exchange Wallet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54ABE55-DFE2-B859-D45F-A7A634DB7D80}"/>
                </a:ext>
              </a:extLst>
            </p:cNvPr>
            <p:cNvSpPr/>
            <p:nvPr/>
          </p:nvSpPr>
          <p:spPr>
            <a:xfrm>
              <a:off x="5116477" y="3297294"/>
              <a:ext cx="1614489" cy="465372"/>
            </a:xfrm>
            <a:prstGeom prst="rect">
              <a:avLst/>
            </a:prstGeom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Exchange’s Owner Wallet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76297A1-E78A-5DB8-ADE7-A14378B897E6}"/>
                </a:ext>
              </a:extLst>
            </p:cNvPr>
            <p:cNvSpPr/>
            <p:nvPr/>
          </p:nvSpPr>
          <p:spPr>
            <a:xfrm>
              <a:off x="4972412" y="4026557"/>
              <a:ext cx="2121697" cy="1329917"/>
            </a:xfrm>
            <a:prstGeom prst="rect">
              <a:avLst/>
            </a:prstGeom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 Wallets; one for each client. To transfer BTC from exchange to a personal wallet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DDB3B6-7636-8846-0809-5B3785D94D73}"/>
                </a:ext>
              </a:extLst>
            </p:cNvPr>
            <p:cNvSpPr/>
            <p:nvPr/>
          </p:nvSpPr>
          <p:spPr>
            <a:xfrm>
              <a:off x="4899786" y="2019301"/>
              <a:ext cx="2266950" cy="3529012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852AAF-9E6F-68F0-B66D-895F073DFC27}"/>
                </a:ext>
              </a:extLst>
            </p:cNvPr>
            <p:cNvSpPr txBox="1"/>
            <p:nvPr/>
          </p:nvSpPr>
          <p:spPr>
            <a:xfrm>
              <a:off x="5301852" y="2055295"/>
              <a:ext cx="12906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Wallets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F4638A8-DECE-0E86-5E9C-BC669A558CEC}"/>
              </a:ext>
            </a:extLst>
          </p:cNvPr>
          <p:cNvSpPr/>
          <p:nvPr/>
        </p:nvSpPr>
        <p:spPr>
          <a:xfrm>
            <a:off x="8043863" y="862013"/>
            <a:ext cx="3824287" cy="574357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77CCC6-4872-DF7D-598D-BA4B6CCBAFFA}"/>
              </a:ext>
            </a:extLst>
          </p:cNvPr>
          <p:cNvSpPr/>
          <p:nvPr/>
        </p:nvSpPr>
        <p:spPr>
          <a:xfrm>
            <a:off x="8211375" y="963866"/>
            <a:ext cx="1443038" cy="623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 miner’s wallets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8CB4D7-0B89-1C0B-EC15-5969E79B53BA}"/>
              </a:ext>
            </a:extLst>
          </p:cNvPr>
          <p:cNvSpPr/>
          <p:nvPr/>
        </p:nvSpPr>
        <p:spPr>
          <a:xfrm>
            <a:off x="10002241" y="953894"/>
            <a:ext cx="1719097" cy="623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Sys. Maturation Wallet</a:t>
            </a:r>
          </a:p>
        </p:txBody>
      </p:sp>
    </p:spTree>
    <p:extLst>
      <p:ext uri="{BB962C8B-B14F-4D97-AF65-F5344CB8AC3E}">
        <p14:creationId xmlns:p14="http://schemas.microsoft.com/office/powerpoint/2010/main" val="3066646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0266-A416-D4AA-ADC2-C6FA4158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978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High-Level Sequence of Events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0BB0FE-0287-4476-E113-D963717D8714}"/>
              </a:ext>
            </a:extLst>
          </p:cNvPr>
          <p:cNvGrpSpPr/>
          <p:nvPr/>
        </p:nvGrpSpPr>
        <p:grpSpPr>
          <a:xfrm>
            <a:off x="934542" y="1395796"/>
            <a:ext cx="5531842" cy="5398703"/>
            <a:chOff x="933450" y="1459296"/>
            <a:chExt cx="5531842" cy="539870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58E933-55C5-E435-5C7E-7DA3A5C2DC66}"/>
                </a:ext>
              </a:extLst>
            </p:cNvPr>
            <p:cNvSpPr/>
            <p:nvPr/>
          </p:nvSpPr>
          <p:spPr>
            <a:xfrm>
              <a:off x="933450" y="1459296"/>
              <a:ext cx="4471988" cy="1879217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Miners Create BTC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2B057A-01A2-B2DD-E90D-7F8A0CAB94F7}"/>
                </a:ext>
              </a:extLst>
            </p:cNvPr>
            <p:cNvSpPr txBox="1"/>
            <p:nvPr/>
          </p:nvSpPr>
          <p:spPr>
            <a:xfrm>
              <a:off x="1566862" y="1459296"/>
              <a:ext cx="34631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00B050"/>
                  </a:solidFill>
                </a:rPr>
                <a:t>Miners Create BTC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109E2C-6A6D-14EF-D1E1-6BA2DC310555}"/>
                </a:ext>
              </a:extLst>
            </p:cNvPr>
            <p:cNvSpPr/>
            <p:nvPr/>
          </p:nvSpPr>
          <p:spPr>
            <a:xfrm>
              <a:off x="1029525" y="2125902"/>
              <a:ext cx="1443038" cy="6230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 miner’s wallets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AB1D84-9F51-21E1-8733-4C7B0FF33013}"/>
                </a:ext>
              </a:extLst>
            </p:cNvPr>
            <p:cNvSpPr/>
            <p:nvPr/>
          </p:nvSpPr>
          <p:spPr>
            <a:xfrm>
              <a:off x="3596679" y="2125902"/>
              <a:ext cx="1719097" cy="6230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Sys. Maturation Wallet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82897E-F80E-6EC5-03C2-3036705E55D8}"/>
                </a:ext>
              </a:extLst>
            </p:cNvPr>
            <p:cNvSpPr/>
            <p:nvPr/>
          </p:nvSpPr>
          <p:spPr>
            <a:xfrm>
              <a:off x="5208817" y="4231481"/>
              <a:ext cx="1256475" cy="6230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Client0</a:t>
              </a:r>
            </a:p>
            <a:p>
              <a:pPr algn="ctr"/>
              <a:r>
                <a:rPr lang="en-US" dirty="0"/>
                <a:t>Wallet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E5E4B1-D286-DEEB-44F1-EE7011C75C7B}"/>
                </a:ext>
              </a:extLst>
            </p:cNvPr>
            <p:cNvSpPr/>
            <p:nvPr/>
          </p:nvSpPr>
          <p:spPr>
            <a:xfrm>
              <a:off x="5208817" y="5346331"/>
              <a:ext cx="1256475" cy="6230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Client38</a:t>
              </a:r>
            </a:p>
            <a:p>
              <a:pPr algn="ctr"/>
              <a:r>
                <a:rPr lang="en-US" dirty="0"/>
                <a:t>Wallet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7FFA379-43AA-3655-92D2-02E6C2AEF205}"/>
                </a:ext>
              </a:extLst>
            </p:cNvPr>
            <p:cNvSpPr/>
            <p:nvPr/>
          </p:nvSpPr>
          <p:spPr>
            <a:xfrm>
              <a:off x="5208817" y="6113092"/>
              <a:ext cx="1256475" cy="7449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Exchange Owner Wallet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2E6901-F320-B449-C234-F9B551DD5398}"/>
              </a:ext>
            </a:extLst>
          </p:cNvPr>
          <p:cNvGrpSpPr/>
          <p:nvPr/>
        </p:nvGrpSpPr>
        <p:grpSpPr>
          <a:xfrm>
            <a:off x="992983" y="3519488"/>
            <a:ext cx="3923506" cy="1055305"/>
            <a:chOff x="6219825" y="1459296"/>
            <a:chExt cx="4181475" cy="105530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395352-8811-ABDF-EEBD-5056E4C92A45}"/>
                </a:ext>
              </a:extLst>
            </p:cNvPr>
            <p:cNvSpPr/>
            <p:nvPr/>
          </p:nvSpPr>
          <p:spPr>
            <a:xfrm>
              <a:off x="6372225" y="1459297"/>
              <a:ext cx="3971925" cy="1055304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Miners Create BTC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F9E6DE-84B0-8212-60D6-BCC91A13739A}"/>
                </a:ext>
              </a:extLst>
            </p:cNvPr>
            <p:cNvSpPr txBox="1"/>
            <p:nvPr/>
          </p:nvSpPr>
          <p:spPr>
            <a:xfrm>
              <a:off x="6219825" y="1459296"/>
              <a:ext cx="418147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</a:rPr>
                <a:t>Miners and Regular Clients Join Exchange</a:t>
              </a:r>
            </a:p>
          </p:txBody>
        </p:sp>
      </p:grp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446CF08-17BD-94DF-CF6F-58D811E9F2DB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916488" y="2216507"/>
            <a:ext cx="2022475" cy="17681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B7797E-FFCF-9E74-CA1A-07631128122F}"/>
              </a:ext>
            </a:extLst>
          </p:cNvPr>
          <p:cNvGrpSpPr/>
          <p:nvPr/>
        </p:nvGrpSpPr>
        <p:grpSpPr>
          <a:xfrm>
            <a:off x="6938963" y="1879054"/>
            <a:ext cx="4514850" cy="1558813"/>
            <a:chOff x="6938963" y="1460612"/>
            <a:chExt cx="4514850" cy="155881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1FDC930-7BBE-1ABD-85AD-ACCE30C832A6}"/>
                </a:ext>
              </a:extLst>
            </p:cNvPr>
            <p:cNvSpPr/>
            <p:nvPr/>
          </p:nvSpPr>
          <p:spPr>
            <a:xfrm>
              <a:off x="6938963" y="1460612"/>
              <a:ext cx="4514850" cy="1558813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B8C4B7-3013-686C-0C09-5529CC8C9E13}"/>
                </a:ext>
              </a:extLst>
            </p:cNvPr>
            <p:cNvSpPr txBox="1"/>
            <p:nvPr/>
          </p:nvSpPr>
          <p:spPr>
            <a:xfrm>
              <a:off x="6938963" y="1474899"/>
              <a:ext cx="4381500" cy="646331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Each miner sends the threshold amount of BTC to the exchange address.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90E44B-0964-133D-B541-BB981CDCDBF5}"/>
                </a:ext>
              </a:extLst>
            </p:cNvPr>
            <p:cNvSpPr txBox="1"/>
            <p:nvPr/>
          </p:nvSpPr>
          <p:spPr>
            <a:xfrm>
              <a:off x="6972300" y="2151632"/>
              <a:ext cx="4381500" cy="646331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exchange creates the accounts for all the clients.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221F265-5AFF-06F0-4B1B-045180B04A83}"/>
              </a:ext>
            </a:extLst>
          </p:cNvPr>
          <p:cNvSpPr/>
          <p:nvPr/>
        </p:nvSpPr>
        <p:spPr>
          <a:xfrm>
            <a:off x="6562725" y="1204914"/>
            <a:ext cx="5329238" cy="510539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DF67C8-C396-B558-B077-4EB09B4137C2}"/>
              </a:ext>
            </a:extLst>
          </p:cNvPr>
          <p:cNvSpPr txBox="1"/>
          <p:nvPr/>
        </p:nvSpPr>
        <p:spPr>
          <a:xfrm>
            <a:off x="7666799" y="1227762"/>
            <a:ext cx="3463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Exchange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4FD6FD-6451-879C-724E-B712C0BD0DA5}"/>
              </a:ext>
            </a:extLst>
          </p:cNvPr>
          <p:cNvSpPr/>
          <p:nvPr/>
        </p:nvSpPr>
        <p:spPr>
          <a:xfrm>
            <a:off x="6972300" y="3719513"/>
            <a:ext cx="4514850" cy="1023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transaction registered in the exchange client’s accounts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E05BB-0492-6D62-483E-7B1BE8B0D5A4}"/>
              </a:ext>
            </a:extLst>
          </p:cNvPr>
          <p:cNvSpPr/>
          <p:nvPr/>
        </p:nvSpPr>
        <p:spPr>
          <a:xfrm>
            <a:off x="6972300" y="4900943"/>
            <a:ext cx="4514850" cy="6822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When client’s withdraw BTC 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531DC35-C3F8-B2A5-874E-B5B3F7045A6A}"/>
              </a:ext>
            </a:extLst>
          </p:cNvPr>
          <p:cNvSpPr/>
          <p:nvPr/>
        </p:nvSpPr>
        <p:spPr>
          <a:xfrm rot="179621">
            <a:off x="5799139" y="489236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637007A-A6E1-5C09-ADF5-8A49ED7D095F}"/>
              </a:ext>
            </a:extLst>
          </p:cNvPr>
          <p:cNvSpPr/>
          <p:nvPr/>
        </p:nvSpPr>
        <p:spPr>
          <a:xfrm rot="179621">
            <a:off x="5799139" y="501373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341AE9-A15A-B353-416B-FEB0811C3DF9}"/>
              </a:ext>
            </a:extLst>
          </p:cNvPr>
          <p:cNvSpPr/>
          <p:nvPr/>
        </p:nvSpPr>
        <p:spPr>
          <a:xfrm rot="179621">
            <a:off x="5799139" y="513573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D532561-5CDC-B6C5-36F4-46DA99C208DD}"/>
              </a:ext>
            </a:extLst>
          </p:cNvPr>
          <p:cNvCxnSpPr>
            <a:stCxn id="29" idx="1"/>
            <a:endCxn id="38" idx="3"/>
          </p:cNvCxnSpPr>
          <p:nvPr/>
        </p:nvCxnSpPr>
        <p:spPr>
          <a:xfrm flipH="1">
            <a:off x="6466384" y="4231482"/>
            <a:ext cx="505916" cy="2190564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C193CB3-587C-A56A-C4E4-02D93AC68373}"/>
              </a:ext>
            </a:extLst>
          </p:cNvPr>
          <p:cNvCxnSpPr>
            <a:cxnSpLocks/>
            <a:stCxn id="30" idx="1"/>
            <a:endCxn id="51" idx="3"/>
          </p:cNvCxnSpPr>
          <p:nvPr/>
        </p:nvCxnSpPr>
        <p:spPr>
          <a:xfrm flipH="1" flipV="1">
            <a:off x="6509101" y="5021564"/>
            <a:ext cx="463199" cy="220527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8C4759F-9EC2-D133-5C39-E8CD643CC010}"/>
              </a:ext>
            </a:extLst>
          </p:cNvPr>
          <p:cNvSpPr/>
          <p:nvPr/>
        </p:nvSpPr>
        <p:spPr>
          <a:xfrm>
            <a:off x="5148263" y="4047140"/>
            <a:ext cx="1360838" cy="1948848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6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191</Words>
  <Application>Microsoft Office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Conceptual Diagrams</vt:lpstr>
      <vt:lpstr>PowerPoint Presentation</vt:lpstr>
      <vt:lpstr>Conceptual Application Architecture</vt:lpstr>
      <vt:lpstr>High-Level Sequence of Events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Fellig</dc:creator>
  <cp:lastModifiedBy>Daniel Fellig</cp:lastModifiedBy>
  <cp:revision>21</cp:revision>
  <dcterms:created xsi:type="dcterms:W3CDTF">2026-03-19T11:42:40Z</dcterms:created>
  <dcterms:modified xsi:type="dcterms:W3CDTF">2026-03-19T13:15:25Z</dcterms:modified>
</cp:coreProperties>
</file>